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Alfa Slab One" panose="020B0604020202020204" charset="0"/>
      <p:regular r:id="rId15"/>
    </p:embeddedFont>
    <p:embeddedFont>
      <p:font typeface="Proxima Nova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0502C4-2AE6-4C89-91CB-DE23A48DE2AD}">
  <a:tblStyle styleId="{4A0502C4-2AE6-4C89-91CB-DE23A48DE2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46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36d167d01_0_3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36d167d01_0_3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3568409ab_0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3568409ab_0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3568409ab_0_9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3568409ab_0_9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36d167d01_0_3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36d167d01_0_3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3568409ab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3568409ab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3568409ab_0_9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3568409ab_0_9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3568409ab_0_9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3568409ab_0_9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3568409ab_0_9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3568409ab_0_9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3568409ab_0_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3568409ab_0_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3568409ab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3568409ab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3568409ab_0_1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3568409ab_0_10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me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d/dTyXu3oEKKisnA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43023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E0F7FF"/>
                </a:solidFill>
              </a:rPr>
              <a:t>COSMOS</a:t>
            </a:r>
            <a:endParaRPr sz="6000">
              <a:solidFill>
                <a:srgbClr val="E0F7FF"/>
              </a:solidFill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1704175"/>
            <a:ext cx="42603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ru" sz="1800">
                <a:solidFill>
                  <a:srgbClr val="E0F7FF"/>
                </a:solidFill>
              </a:rPr>
              <a:t>Игровое приложение для Android</a:t>
            </a:r>
            <a:endParaRPr sz="1800">
              <a:solidFill>
                <a:srgbClr val="E0F7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712375" y="3166575"/>
            <a:ext cx="51240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>
                <a:solidFill>
                  <a:srgbClr val="E0F7FF"/>
                </a:solidFill>
                <a:latin typeface="Proxima Nova"/>
                <a:ea typeface="Proxima Nova"/>
                <a:cs typeface="Proxima Nova"/>
                <a:sym typeface="Proxima Nova"/>
              </a:rPr>
              <a:t>Номинация: Игровое приложение</a:t>
            </a:r>
            <a:endParaRPr sz="1800" i="1">
              <a:solidFill>
                <a:srgbClr val="E0F7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rgbClr val="E0F7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>
                <a:solidFill>
                  <a:srgbClr val="E0F7FF"/>
                </a:solidFill>
                <a:latin typeface="Proxima Nova"/>
                <a:ea typeface="Proxima Nova"/>
                <a:cs typeface="Proxima Nova"/>
                <a:sym typeface="Proxima Nova"/>
              </a:rPr>
              <a:t>Автор: Пирогова Ясмина Кемалевна </a:t>
            </a:r>
            <a:endParaRPr sz="1800" i="1">
              <a:solidFill>
                <a:srgbClr val="E0F7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>
                <a:solidFill>
                  <a:srgbClr val="E0F7FF"/>
                </a:solidFill>
                <a:latin typeface="Proxima Nova"/>
                <a:ea typeface="Proxima Nova"/>
                <a:cs typeface="Proxima Nova"/>
                <a:sym typeface="Proxima Nova"/>
              </a:rPr>
              <a:t>Наставник: Раздобреева Мария Николаевна</a:t>
            </a:r>
            <a:endParaRPr sz="1800" i="1">
              <a:solidFill>
                <a:srgbClr val="E0F7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>
                <a:solidFill>
                  <a:srgbClr val="E0F7FF"/>
                </a:solidFill>
                <a:latin typeface="Proxima Nova"/>
                <a:ea typeface="Proxima Nova"/>
                <a:cs typeface="Proxima Nova"/>
                <a:sym typeface="Proxima Nova"/>
              </a:rPr>
              <a:t>Площадка обучения: ИТ-Школа Samsung</a:t>
            </a:r>
            <a:endParaRPr sz="1800" i="1">
              <a:solidFill>
                <a:srgbClr val="E0F7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ИДЕЯ И ЗАДАЧИ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64625" y="1143525"/>
            <a:ext cx="3999900" cy="13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ru" sz="1500">
                <a:solidFill>
                  <a:schemeClr val="accent5"/>
                </a:solidFill>
              </a:rPr>
              <a:t>Идея приложения: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Создать динамичную 2D-аркаду в космическом сеттинге, которая тренирует реакцию игрока и предоставляет увлекательный опыт выживания с элементами прогрессии.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2"/>
          </p:nvPr>
        </p:nvSpPr>
        <p:spPr>
          <a:xfrm>
            <a:off x="364625" y="2634125"/>
            <a:ext cx="3999900" cy="14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Целевая аудитория: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Любители аркадных раннеров и шутеров</a:t>
            </a:r>
            <a:endParaRPr/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Игроки, ценящие простоту управления и динамику</a:t>
            </a:r>
            <a:endParaRPr/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Пользователи бюджетных Android-устройств</a:t>
            </a:r>
            <a:endParaRPr sz="1000"/>
          </a:p>
        </p:txBody>
      </p:sp>
      <p:sp>
        <p:nvSpPr>
          <p:cNvPr id="66" name="Google Shape;66;p14"/>
          <p:cNvSpPr txBox="1"/>
          <p:nvPr/>
        </p:nvSpPr>
        <p:spPr>
          <a:xfrm>
            <a:off x="4687225" y="1143525"/>
            <a:ext cx="4145100" cy="27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ru" sz="15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 Какие задачи решает приложение:</a:t>
            </a:r>
            <a:endParaRPr sz="15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ru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•</a:t>
            </a:r>
            <a:r>
              <a:rPr lang="ru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Предоставляет качественный геймплей на устройствах с низкими характеристиками (от 512 МБ ОЗУ)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ru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•</a:t>
            </a:r>
            <a:r>
              <a:rPr lang="ru">
                <a:solidFill>
                  <a:srgbClr val="00FFAA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Реализует систему кастомизации: 4 уникальных скина корабля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ru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•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Внедряет механику временных бонусов (баффов) для  разнообразия игрового процесса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•</a:t>
            </a:r>
            <a:r>
              <a:rPr lang="ru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Обеспечивает сохранение прогресса: рекорды, настройки, выбранный скин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ТЕХНОЛОГИЧЕСКИЙ СТЕК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64625" y="1152475"/>
            <a:ext cx="4467900" cy="16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1500">
                <a:solidFill>
                  <a:schemeClr val="accent5"/>
                </a:solidFill>
              </a:rPr>
              <a:t>Фреймворк и язык: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>
                <a:solidFill>
                  <a:schemeClr val="accent5"/>
                </a:solidFill>
              </a:rPr>
              <a:t>•</a:t>
            </a:r>
            <a:r>
              <a:rPr lang="ru"/>
              <a:t> LibGDX 1.10.0 — кроссплатформенный игровой фреймворк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>
                <a:solidFill>
                  <a:schemeClr val="accent5"/>
                </a:solidFill>
              </a:rPr>
              <a:t>•</a:t>
            </a:r>
            <a:r>
              <a:rPr lang="ru">
                <a:solidFill>
                  <a:schemeClr val="accent3"/>
                </a:solidFill>
              </a:rPr>
              <a:t> </a:t>
            </a:r>
            <a:r>
              <a:rPr lang="ru"/>
              <a:t>Java 17 — современный язык со строгой типизацией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ru">
                <a:solidFill>
                  <a:schemeClr val="accent5"/>
                </a:solidFill>
              </a:rPr>
              <a:t>•</a:t>
            </a:r>
            <a:r>
              <a:rPr lang="ru"/>
              <a:t> OpenGL ES 2.0 — аппаратное ускорение графики</a:t>
            </a: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2"/>
          </p:nvPr>
        </p:nvSpPr>
        <p:spPr>
          <a:xfrm>
            <a:off x="364625" y="3017875"/>
            <a:ext cx="4467900" cy="16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Ключевые библиотеки: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ru">
                <a:solidFill>
                  <a:schemeClr val="accent5"/>
                </a:solidFill>
              </a:rPr>
              <a:t>•</a:t>
            </a:r>
            <a:r>
              <a:rPr lang="ru">
                <a:solidFill>
                  <a:schemeClr val="accent3"/>
                </a:solidFill>
              </a:rPr>
              <a:t> </a:t>
            </a:r>
            <a:r>
              <a:rPr lang="ru"/>
              <a:t>Box2D — физический движок для точных коллизий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FreeType — векторные шрифты для чёткого UI на любых DPI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</a:t>
            </a:r>
            <a:r>
              <a:rPr lang="ru"/>
              <a:t> Preferences + JSON — надёжное хранение данных</a:t>
            </a:r>
            <a:endParaRPr/>
          </a:p>
        </p:txBody>
      </p:sp>
      <p:pic>
        <p:nvPicPr>
          <p:cNvPr id="74" name="Google Shape;74;p15" title="Снимок экрана 2026-05-20 150324.png"/>
          <p:cNvPicPr preferRelativeResize="0"/>
          <p:nvPr/>
        </p:nvPicPr>
        <p:blipFill rotWithShape="1">
          <a:blip r:embed="rId3">
            <a:alphaModFix/>
          </a:blip>
          <a:srcRect l="9808" r="31709"/>
          <a:stretch/>
        </p:blipFill>
        <p:spPr>
          <a:xfrm>
            <a:off x="5026500" y="1108900"/>
            <a:ext cx="3931075" cy="33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312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АРХИТЕКТУРА ПРИЛОЖЕНИЯ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352125" y="1017725"/>
            <a:ext cx="3999900" cy="23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ru" sz="1500">
                <a:solidFill>
                  <a:schemeClr val="accent5"/>
                </a:solidFill>
              </a:rPr>
              <a:t>Архитектурные паттерны: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ru">
                <a:solidFill>
                  <a:schemeClr val="accent5"/>
                </a:solidFill>
              </a:rPr>
              <a:t>•</a:t>
            </a:r>
            <a:r>
              <a:rPr lang="ru"/>
              <a:t> Screen Manager — управление состояниями приложения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ru">
                <a:solidFill>
                  <a:schemeClr val="accent5"/>
                </a:solidFill>
              </a:rPr>
              <a:t>•</a:t>
            </a:r>
            <a:r>
              <a:rPr lang="ru"/>
              <a:t> Object Pooling — переиспользование объектов для оптимизации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ru">
                <a:solidFill>
                  <a:schemeClr val="accent5"/>
                </a:solidFill>
              </a:rPr>
              <a:t>•</a:t>
            </a:r>
            <a:r>
              <a:rPr lang="ru"/>
              <a:t> Component-based UI — модульные компоненты интерфейса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</a:t>
            </a:r>
            <a:r>
              <a:rPr lang="ru"/>
              <a:t> Fixed Timestep — стабильная физика на любых FPS</a:t>
            </a:r>
            <a:endParaRPr sz="1000"/>
          </a:p>
        </p:txBody>
      </p:sp>
      <p:sp>
        <p:nvSpPr>
          <p:cNvPr id="81" name="Google Shape;81;p16"/>
          <p:cNvSpPr txBox="1"/>
          <p:nvPr/>
        </p:nvSpPr>
        <p:spPr>
          <a:xfrm>
            <a:off x="356025" y="3613625"/>
            <a:ext cx="3992100" cy="11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Поток данных:</a:t>
            </a:r>
            <a:b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b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Главное меню </a:t>
            </a:r>
            <a:r>
              <a:rPr lang="ru" sz="15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→</a:t>
            </a:r>
            <a:r>
              <a:rPr lang="ru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Выбор скина </a:t>
            </a:r>
            <a:r>
              <a:rPr lang="ru" sz="15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→ 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Игра </a:t>
            </a:r>
            <a:r>
              <a:rPr lang="ru" sz="15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→ 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Пауза/Конец</a:t>
            </a:r>
            <a:r>
              <a:rPr lang="ru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" sz="15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→ 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Таблица рекордов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2" name="Google Shape;82;p16" title="1779272060.png"/>
          <p:cNvPicPr preferRelativeResize="0"/>
          <p:nvPr/>
        </p:nvPicPr>
        <p:blipFill rotWithShape="1">
          <a:blip r:embed="rId3">
            <a:alphaModFix/>
          </a:blip>
          <a:srcRect l="35948" t="9551" r="14461"/>
          <a:stretch/>
        </p:blipFill>
        <p:spPr>
          <a:xfrm>
            <a:off x="4875775" y="885425"/>
            <a:ext cx="3956526" cy="40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180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СТРУКТУРА ПРОЕКТА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753150"/>
            <a:ext cx="4520700" cy="42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200"/>
              <a:t>Cosmos/</a:t>
            </a:r>
            <a:endParaRPr sz="12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200"/>
              <a:t>├── core/ </a:t>
            </a:r>
            <a:r>
              <a:rPr lang="ru" sz="1200">
                <a:solidFill>
                  <a:schemeClr val="accent5"/>
                </a:solidFill>
              </a:rPr>
              <a:t>(игровая логика)</a:t>
            </a:r>
            <a:endParaRPr sz="12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200"/>
              <a:t>│   ├── MyGdxGame.java</a:t>
            </a:r>
            <a:r>
              <a:rPr lang="ru" sz="1200">
                <a:solidFill>
                  <a:schemeClr val="accent5"/>
                </a:solidFill>
              </a:rPr>
              <a:t> — ядро: инициализация, рендеринг</a:t>
            </a:r>
            <a:endParaRPr sz="12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200"/>
              <a:t>│   ├── screens/ </a:t>
            </a:r>
            <a:r>
              <a:rPr lang="ru" sz="1200">
                <a:solidFill>
                  <a:schemeClr val="accent5"/>
                </a:solidFill>
              </a:rPr>
              <a:t>—</a:t>
            </a:r>
            <a:r>
              <a:rPr lang="ru" sz="1200"/>
              <a:t> MenuScreen, GameScreen, SettingsScreen, SkinScreen</a:t>
            </a:r>
            <a:endParaRPr sz="12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200"/>
              <a:t>│   ├── objects/</a:t>
            </a:r>
            <a:r>
              <a:rPr lang="ru" sz="1200">
                <a:solidFill>
                  <a:schemeClr val="accent5"/>
                </a:solidFill>
              </a:rPr>
              <a:t> — </a:t>
            </a:r>
            <a:r>
              <a:rPr lang="ru" sz="1200"/>
              <a:t>ShipObject, TrashObject, LootObject, BulletObject</a:t>
            </a:r>
            <a:endParaRPr sz="12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200"/>
              <a:t>│   ├── managers/ — MemoryManager, ContactManager, ExplosionManager</a:t>
            </a:r>
            <a:endParaRPr sz="12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200"/>
              <a:t>│   └── pools/ </a:t>
            </a:r>
            <a:r>
              <a:rPr lang="ru" sz="1200">
                <a:solidFill>
                  <a:schemeClr val="accent5"/>
                </a:solidFill>
              </a:rPr>
              <a:t>—</a:t>
            </a:r>
            <a:r>
              <a:rPr lang="ru" sz="1200"/>
              <a:t> BulletPool, LootPool, TrashPool (Object Pooling)</a:t>
            </a:r>
            <a:endParaRPr sz="12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200"/>
              <a:t>│</a:t>
            </a:r>
            <a:endParaRPr sz="12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200"/>
              <a:t>├── android/</a:t>
            </a:r>
            <a:r>
              <a:rPr lang="ru" sz="1200">
                <a:solidFill>
                  <a:schemeClr val="accent5"/>
                </a:solidFill>
              </a:rPr>
              <a:t> (Android-специфика)</a:t>
            </a:r>
            <a:endParaRPr sz="12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200"/>
              <a:t>│   ├── AndroidLauncher.java</a:t>
            </a:r>
            <a:r>
              <a:rPr lang="ru" sz="1200">
                <a:solidFill>
                  <a:schemeClr val="accent5"/>
                </a:solidFill>
              </a:rPr>
              <a:t> — точка входа</a:t>
            </a:r>
            <a:endParaRPr sz="12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ru" sz="1200"/>
              <a:t>│   ├── AndroidManifest.xml</a:t>
            </a:r>
            <a:r>
              <a:rPr lang="ru" sz="1200">
                <a:solidFill>
                  <a:schemeClr val="accent5"/>
                </a:solidFill>
              </a:rPr>
              <a:t> — настройки приложения</a:t>
            </a:r>
            <a:endParaRPr sz="12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/>
              <a:t>│   └── build.gradle</a:t>
            </a:r>
            <a:r>
              <a:rPr lang="ru" sz="1200">
                <a:solidFill>
                  <a:schemeClr val="accent5"/>
                </a:solidFill>
              </a:rPr>
              <a:t> — конфигурация сборки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89" name="Google Shape;89;p17" title="1779271951.png"/>
          <p:cNvPicPr preferRelativeResize="0"/>
          <p:nvPr/>
        </p:nvPicPr>
        <p:blipFill rotWithShape="1">
          <a:blip r:embed="rId3">
            <a:alphaModFix/>
          </a:blip>
          <a:srcRect l="19058" t="14479" r="15359"/>
          <a:stretch/>
        </p:blipFill>
        <p:spPr>
          <a:xfrm>
            <a:off x="4832400" y="1137762"/>
            <a:ext cx="4186499" cy="304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03675" y="380050"/>
            <a:ext cx="8512800" cy="6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ИГРОВОЙ ПРОЦЕСС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03675" y="1109425"/>
            <a:ext cx="3293400" cy="37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Управление: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Корабль движется влево/вправо, следуя за касанием/курсором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</a:t>
            </a:r>
            <a:r>
              <a:rPr lang="ru"/>
              <a:t> Автоматическая стрельба с настраиваемым кулдауном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Интуитивный интерфейс: пауза, настройки, возврат в меню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Боевая система: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Лазерная стрельба с визуальными эффектами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Система частиц для взрывов при уничтожении объектов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Начисление очков за время выживания + бонусы за уничтожение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2"/>
          </p:nvPr>
        </p:nvSpPr>
        <p:spPr>
          <a:xfrm>
            <a:off x="3882850" y="3104125"/>
            <a:ext cx="4933500" cy="16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Геймплей: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Бесконечный раннер: выживание в потоке препятствий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Прогрессирующая сложность: скорость объектов растёт со временем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Три типа препятствий: астероиды, спутники, космический мусор</a:t>
            </a:r>
            <a:endParaRPr/>
          </a:p>
        </p:txBody>
      </p:sp>
      <p:pic>
        <p:nvPicPr>
          <p:cNvPr id="97" name="Google Shape;97;p18" title="Снимок экрана 2026-05-20 145335.png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805550" y="262540"/>
            <a:ext cx="1379228" cy="2607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 title="Снимок экрана 2026-05-20 145323.png"/>
          <p:cNvPicPr preferRelativeResize="0"/>
          <p:nvPr/>
        </p:nvPicPr>
        <p:blipFill rotWithShape="1">
          <a:blip r:embed="rId4">
            <a:alphaModFix/>
          </a:blip>
          <a:srcRect t="436" b="436"/>
          <a:stretch/>
        </p:blipFill>
        <p:spPr>
          <a:xfrm>
            <a:off x="4318638" y="259316"/>
            <a:ext cx="1379229" cy="261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Снимок экрана 2026-05-20 145353.png"/>
          <p:cNvPicPr preferRelativeResize="0"/>
          <p:nvPr/>
        </p:nvPicPr>
        <p:blipFill rotWithShape="1">
          <a:blip r:embed="rId5">
            <a:alphaModFix/>
          </a:blip>
          <a:srcRect l="10" r="10"/>
          <a:stretch/>
        </p:blipFill>
        <p:spPr>
          <a:xfrm>
            <a:off x="7292450" y="247750"/>
            <a:ext cx="1379229" cy="2636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СИСТЕМА ВРЕМЕННЫХ БОНУСОВ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263450" y="3812950"/>
            <a:ext cx="44013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" sz="15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Визуальная обратная связь:</a:t>
            </a:r>
            <a:br>
              <a:rPr lang="ru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15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• 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Текстовые таймеры: «RAPID: 10s», «x2 SCORE: 15s»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• 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Пульсирующий голубой щит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06" name="Google Shape;106;p19"/>
          <p:cNvGraphicFramePr/>
          <p:nvPr/>
        </p:nvGraphicFramePr>
        <p:xfrm>
          <a:off x="263438" y="112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{4A0502C4-2AE6-4C89-91CB-DE23A48DE2AD}</a:tableStyleId>
              </a:tblPr>
              <a:tblGrid>
                <a:gridCol w="173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🔥RAPID FIRE</a:t>
                      </a:r>
                      <a:b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</a:b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(10 сек)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Двойной лазер вместо одного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rapidFireTimer &gt; 0 в методе needToShoot()    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🛡️ SHIELD </a:t>
                      </a:r>
                      <a:b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</a:b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(до первого удара)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Поглощает урон без потери жизни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флаг hasShield + отрисовка shieldRegion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❤️ EXTRA LIFE (мгновенный)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+1 жизнь (максимум 3)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livesLeft =   Math.min(livesLeft + 1, 3)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✨SCORE BOOST (15 сек)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Все очки умножаются на 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scoreMultiplier = 2 + таймер сброса в update()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7" name="Google Shape;107;p19"/>
          <p:cNvSpPr txBox="1"/>
          <p:nvPr/>
        </p:nvSpPr>
        <p:spPr>
          <a:xfrm>
            <a:off x="4664750" y="4242250"/>
            <a:ext cx="40923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• 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Мерцание корабля при неуязвимости</a:t>
            </a:r>
            <a:b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• </a:t>
            </a:r>
            <a:r>
              <a:rPr lang="ru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Пульсация иконок баффов для заметности</a:t>
            </a:r>
            <a:endParaRPr sz="19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ОПТИМИЗАЦИЯ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4294967295"/>
          </p:nvPr>
        </p:nvSpPr>
        <p:spPr>
          <a:xfrm>
            <a:off x="311700" y="1114050"/>
            <a:ext cx="3722100" cy="25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Оптимизация памяти (Object Pooling):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BulletPool: 10-60 объектов    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</a:t>
            </a:r>
            <a:r>
              <a:rPr lang="ru" sz="1400"/>
              <a:t> LootPool: 10-30 объектов  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TrashPool: 15-50 объектов 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/>
              <a:t>Переиспользование вместо создания </a:t>
            </a:r>
            <a:br>
              <a:rPr lang="ru" sz="1400"/>
            </a:br>
            <a:r>
              <a:rPr lang="ru" sz="1400"/>
              <a:t>Меньше сборки мусора стабильные 60 FPS на устройствах с 512 МБ ОЗУ</a:t>
            </a:r>
            <a:endParaRPr sz="140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4294967295"/>
          </p:nvPr>
        </p:nvSpPr>
        <p:spPr>
          <a:xfrm>
            <a:off x="4341625" y="1114050"/>
            <a:ext cx="4274700" cy="29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</a:t>
            </a:r>
            <a:r>
              <a:rPr lang="ru" sz="1500">
                <a:solidFill>
                  <a:schemeClr val="accent5"/>
                </a:solidFill>
              </a:rPr>
              <a:t>Стабильность на слабых устройствах: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</a:t>
            </a:r>
            <a:r>
              <a:rPr lang="ru" sz="1400"/>
              <a:t> Fixed Timestep в stepWorld():</a:t>
            </a:r>
            <a:br>
              <a:rPr lang="ru" sz="1400"/>
            </a:br>
            <a:r>
              <a:rPr lang="ru" sz="1400"/>
              <a:t>   (Физика Box2D обновляется с шагом 1/60 сек, одинаковое поведение на 30 и 60 FPS)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</a:t>
            </a:r>
            <a:r>
              <a:rPr lang="ru" sz="1400"/>
              <a:t> Минимизация аллокаций в render():</a:t>
            </a:r>
            <a:br>
              <a:rPr lang="ru" sz="1400"/>
            </a:br>
            <a:r>
              <a:rPr lang="ru" sz="1400"/>
              <a:t>   (Нет лагов при активном геймплее)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</a:t>
            </a:r>
            <a:r>
              <a:rPr lang="ru" sz="1400"/>
              <a:t> Корректный lifecycle (create </a:t>
            </a:r>
            <a:r>
              <a:rPr lang="ru" sz="1500">
                <a:solidFill>
                  <a:schemeClr val="accent5"/>
                </a:solidFill>
              </a:rPr>
              <a:t>→</a:t>
            </a:r>
            <a:r>
              <a:rPr lang="ru" sz="1400"/>
              <a:t> render</a:t>
            </a:r>
            <a:r>
              <a:rPr lang="ru" sz="1500"/>
              <a:t> </a:t>
            </a:r>
            <a:r>
              <a:rPr lang="ru" sz="1500">
                <a:solidFill>
                  <a:schemeClr val="accent5"/>
                </a:solidFill>
              </a:rPr>
              <a:t>→</a:t>
            </a:r>
            <a:r>
              <a:rPr lang="ru" sz="1400">
                <a:solidFill>
                  <a:schemeClr val="accent5"/>
                </a:solidFill>
              </a:rPr>
              <a:t> </a:t>
            </a:r>
            <a:r>
              <a:rPr lang="ru" sz="1400"/>
              <a:t>dispose):</a:t>
            </a:r>
            <a:br>
              <a:rPr lang="ru" sz="1400"/>
            </a:br>
            <a:r>
              <a:rPr lang="ru" sz="1400"/>
              <a:t>   (Все ресурсы освобождаются, нет утечек памяти)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ПРОГРЕССИЯ И СОХРАНЕНИЕ ДАННЫХ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4294967295"/>
          </p:nvPr>
        </p:nvSpPr>
        <p:spPr>
          <a:xfrm>
            <a:off x="311700" y="1017725"/>
            <a:ext cx="4363500" cy="37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Система очков и рекордов: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Счёт растёт за время выживания + бонусы за уничтожение</a:t>
            </a:r>
            <a:endParaRPr sz="14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Топ-5 лучших результатов сохраняется между сессиями</a:t>
            </a:r>
            <a:endParaRPr sz="14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Реализация: MemoryManager.java + Preferences + JSON</a:t>
            </a:r>
            <a:endParaRPr sz="14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/>
              <a:t> Кастомизация корабля:</a:t>
            </a:r>
            <a:br>
              <a:rPr lang="ru" sz="1400"/>
            </a:br>
            <a:r>
              <a:rPr lang="ru" sz="1400"/>
              <a:t>  4 уникальных скина (собственная векторная графика):  </a:t>
            </a:r>
            <a:br>
              <a:rPr lang="ru" sz="1400"/>
            </a:br>
            <a:r>
              <a:rPr lang="ru" sz="1400"/>
              <a:t> </a:t>
            </a: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citrine: сине-оранжевый </a:t>
            </a:r>
            <a:br>
              <a:rPr lang="ru" sz="1400"/>
            </a:br>
            <a:r>
              <a:rPr lang="ru" sz="1400"/>
              <a:t> </a:t>
            </a: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verdant: тёмно-серый + неон-зелёный</a:t>
            </a:r>
            <a:br>
              <a:rPr lang="ru" sz="1400"/>
            </a:br>
            <a:r>
              <a:rPr lang="ru" sz="1400"/>
              <a:t> </a:t>
            </a: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azurean: фиолетово-голубой (по умолчанию)</a:t>
            </a:r>
            <a:br>
              <a:rPr lang="ru" sz="1400"/>
            </a:br>
            <a:r>
              <a:rPr lang="ru" sz="1400"/>
              <a:t> </a:t>
            </a: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nankeen: бежево-фиолетовый</a:t>
            </a:r>
            <a:endParaRPr sz="14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→ </a:t>
            </a:r>
            <a:r>
              <a:rPr lang="ru" sz="1400"/>
              <a:t>Выбор сохраняется через  MemoryManager.saveShipImagePath()</a:t>
            </a:r>
            <a:r>
              <a:rPr lang="ru"/>
              <a:t> 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4294967295"/>
          </p:nvPr>
        </p:nvSpPr>
        <p:spPr>
          <a:xfrm>
            <a:off x="4850725" y="1017725"/>
            <a:ext cx="3813000" cy="33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Настройки пользователя: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Включение/выключение музыки и звуковых эффектов</a:t>
            </a:r>
            <a:endParaRPr sz="14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Очистка таблицы рекордов (кнопка Clear Records)</a:t>
            </a:r>
            <a:endParaRPr sz="14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Все настройки сохраняются автоматически</a:t>
            </a:r>
            <a:endParaRPr sz="14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Надёжность хранения данных: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Обработка ошибок при загрузке (try-catch)</a:t>
            </a:r>
            <a:endParaRPr sz="14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</a:t>
            </a:r>
            <a:r>
              <a:rPr lang="ru" sz="1400"/>
              <a:t> Логирование в Gdx.app.error для отладки</a:t>
            </a:r>
            <a:endParaRPr sz="140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Игра не вылетает при повреждённых данных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ОСОБЕННОСТИ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024850"/>
            <a:ext cx="3259500" cy="31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Уникальные особенности Cosmos: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Собственноручно нарисованная векторная графика — уникальный визуальный стиль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 </a:t>
            </a:r>
            <a:r>
              <a:rPr lang="ru"/>
              <a:t>Продуманная система баффов с визуальной и текстовой обратной связью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accent5"/>
                </a:solidFill>
              </a:rPr>
              <a:t>•</a:t>
            </a:r>
            <a:r>
              <a:rPr lang="ru"/>
              <a:t> Профессиональная оптимизация под слабые устройства без компромиссов в качестве</a:t>
            </a:r>
            <a:endParaRPr/>
          </a:p>
        </p:txBody>
      </p:sp>
      <p:pic>
        <p:nvPicPr>
          <p:cNvPr id="128" name="Google Shape;128;p22" title="Снимок экрана 2026-05-20 1450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525" y="1107788"/>
            <a:ext cx="1543753" cy="291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 title="Снимок экрана 2026-05-20 1451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036" y="1133835"/>
            <a:ext cx="1543753" cy="2892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 title="Снимок экрана 2026-05-20 1450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8547" y="1124067"/>
            <a:ext cx="1543753" cy="2911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ВЫВОДЫ И ПЛАНЫ РАЗВИТИЯ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4294967295"/>
          </p:nvPr>
        </p:nvSpPr>
        <p:spPr>
          <a:xfrm>
            <a:off x="405475" y="1017725"/>
            <a:ext cx="4726800" cy="35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Выводы по проекту: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/>
              <a:t> </a:t>
            </a:r>
            <a:r>
              <a:rPr lang="ru" sz="1400">
                <a:solidFill>
                  <a:schemeClr val="accent5"/>
                </a:solidFill>
              </a:rPr>
              <a:t>•</a:t>
            </a:r>
            <a:r>
              <a:rPr lang="ru" sz="1400"/>
              <a:t>Приложение полностью функционально и соответствует  техническим требованиям конкурса «ИТ Школа выбирает сильнейших»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</a:t>
            </a:r>
            <a:r>
              <a:rPr lang="ru" sz="1400"/>
              <a:t> Реализованы все заявленные механики: скины, баффы, рекорды, настройки, прогрессия сложности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</a:t>
            </a:r>
            <a:r>
              <a:rPr lang="ru" sz="1400"/>
              <a:t> Код структурирован, использует профессиональные паттерны (Object Pooling, Screen Manager, Fixed Timestep)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</a:t>
            </a:r>
            <a:r>
              <a:rPr lang="ru" sz="1400"/>
              <a:t> Игра оптимизирована для работы на бюджетных устройствах без потери качества геймплея</a:t>
            </a:r>
            <a:endParaRPr sz="1400"/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4294967295"/>
          </p:nvPr>
        </p:nvSpPr>
        <p:spPr>
          <a:xfrm>
            <a:off x="5608600" y="1017725"/>
            <a:ext cx="3177000" cy="3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5"/>
                </a:solidFill>
              </a:rPr>
              <a:t>Возможности для доработки:</a:t>
            </a:r>
            <a:endParaRPr sz="150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Боссы с уникальными паттернами атаки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Система достижений (Achievements) 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Онлайн-таблица лидеров 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Редактор скинов для игроков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Поддержка геймпадов/клавиатуры  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accent5"/>
                </a:solidFill>
              </a:rPr>
              <a:t>• </a:t>
            </a:r>
            <a:r>
              <a:rPr lang="ru" sz="1400"/>
              <a:t>Новые типы баффов и препятствий  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>
          <a:xfrm>
            <a:off x="352375" y="1523550"/>
            <a:ext cx="5259600" cy="203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900"/>
              <a:t> </a:t>
            </a:r>
            <a:r>
              <a:rPr lang="ru" sz="6000">
                <a:solidFill>
                  <a:srgbClr val="E0F7FF"/>
                </a:solidFill>
              </a:rPr>
              <a:t>СПАСИБО ЗА ВНИМАНИЕ!</a:t>
            </a:r>
            <a:endParaRPr sz="6000">
              <a:solidFill>
                <a:srgbClr val="E0F7FF"/>
              </a:solidFill>
            </a:endParaRPr>
          </a:p>
        </p:txBody>
      </p:sp>
      <p:sp>
        <p:nvSpPr>
          <p:cNvPr id="143" name="Google Shape;143;p24"/>
          <p:cNvSpPr txBox="1">
            <a:spLocks noGrp="1"/>
          </p:cNvSpPr>
          <p:nvPr>
            <p:ph type="subTitle" idx="4294967295"/>
          </p:nvPr>
        </p:nvSpPr>
        <p:spPr>
          <a:xfrm>
            <a:off x="4958862" y="4165150"/>
            <a:ext cx="3681576" cy="8340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rgbClr val="E0F7FF"/>
                </a:solidFill>
              </a:rPr>
              <a:t>Исходный код и материалы:</a:t>
            </a:r>
            <a:br>
              <a:rPr lang="ru" sz="1400">
                <a:solidFill>
                  <a:srgbClr val="E0F7FF"/>
                </a:solidFill>
              </a:rPr>
            </a:br>
            <a:r>
              <a:rPr lang="ru" sz="1400" u="sng">
                <a:solidFill>
                  <a:srgbClr val="E0F7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https://disk.yandex.ru/d/dTyXu3oEKKisnA</a:t>
            </a:r>
            <a:endParaRPr sz="1200">
              <a:solidFill>
                <a:srgbClr val="E0F7FF"/>
              </a:solidFill>
            </a:endParaRPr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4294967295"/>
          </p:nvPr>
        </p:nvSpPr>
        <p:spPr>
          <a:xfrm>
            <a:off x="534350" y="272250"/>
            <a:ext cx="8258100" cy="10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E0F7FF"/>
                </a:solidFill>
              </a:rPr>
              <a:t> Cosmos — аркадный космический раннер, созданный с использованием современных технологий и профессиональных практик разработки под Android.</a:t>
            </a:r>
            <a:endParaRPr>
              <a:solidFill>
                <a:srgbClr val="E0F7FF"/>
              </a:solidFill>
            </a:endParaRPr>
          </a:p>
        </p:txBody>
      </p:sp>
      <p:pic>
        <p:nvPicPr>
          <p:cNvPr id="145" name="Google Shape;145;p24" title="qr-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150" y="1523550"/>
            <a:ext cx="2031899" cy="203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Microsoft Office PowerPoint</Application>
  <PresentationFormat>Экран (16:9)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Alfa Slab One</vt:lpstr>
      <vt:lpstr>Arial</vt:lpstr>
      <vt:lpstr>Proxima Nova</vt:lpstr>
      <vt:lpstr>Gameday</vt:lpstr>
      <vt:lpstr>COSMOS</vt:lpstr>
      <vt:lpstr>ИДЕЯ И ЗАДАЧИ</vt:lpstr>
      <vt:lpstr>ТЕХНОЛОГИЧЕСКИЙ СТЕК</vt:lpstr>
      <vt:lpstr>АРХИТЕКТУРА ПРИЛОЖЕНИЯ</vt:lpstr>
      <vt:lpstr>СТРУКТУРА ПРОЕКТА</vt:lpstr>
      <vt:lpstr>ИГРОВОЙ ПРОЦЕСС</vt:lpstr>
      <vt:lpstr>СИСТЕМА ВРЕМЕННЫХ БОНУСОВ</vt:lpstr>
      <vt:lpstr>ОПТИМИЗАЦИЯ  </vt:lpstr>
      <vt:lpstr>ПРОГРЕССИЯ И СОХРАНЕНИЕ ДАННЫХ</vt:lpstr>
      <vt:lpstr>ОСОБЕННОСТИ</vt:lpstr>
      <vt:lpstr>ВЫВОДЫ И ПЛАНЫ РАЗВИТИЯ</vt:lpstr>
      <vt:lpstr>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COSMOS</dc:title>
  <cp:lastModifiedBy>Татьяна</cp:lastModifiedBy>
  <cp:revision>1</cp:revision>
  <dcterms:modified xsi:type="dcterms:W3CDTF">2026-05-21T09:10:11Z</dcterms:modified>
</cp:coreProperties>
</file>